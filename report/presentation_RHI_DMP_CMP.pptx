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r>
              <a:rPr lang="en-US" sz="1400"/>
              <a:t>This presentation summarizes our laboratory rehabilitation robot project for Robot-Human Interaction.</a:t>
            </a:r>
          </a:p>
          <a:p>
            <a:r>
              <a:rPr lang="en-US" sz="1400"/>
              <a:t>The main idea is to combine learned movement trajectories with adaptive torque assistance.</a:t>
            </a:r>
          </a:p>
          <a:p>
            <a:r>
              <a:rPr lang="en-US" sz="1400"/>
              <a:t>The system is demonstrated on an upper-limb exercise with a Franka Emika Panda robot.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r>
              <a:rPr lang="en-US" sz="1400"/>
              <a:t>The motivation is the need for controlled and repeatable upper-limb rehabilitation exercises.</a:t>
            </a:r>
          </a:p>
          <a:p>
            <a:r>
              <a:rPr lang="en-US" sz="1400"/>
              <a:t>The robot should provide support, but the user should still remain actively involved in the motion.</a:t>
            </a:r>
          </a:p>
          <a:p>
            <a:r>
              <a:rPr lang="en-US" sz="1400"/>
              <a:t>Our goal was to build a laboratory system where the assistance level can be adjusted.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r>
              <a:rPr lang="en-US" sz="1400"/>
              <a:t>The system is built around the Franka Emika Panda robot.</a:t>
            </a:r>
          </a:p>
          <a:p>
            <a:r>
              <a:rPr lang="en-US" sz="1400"/>
              <a:t>The user interacts with the robot through a 3D printed hand support and performs a reaching task above the working surface.</a:t>
            </a:r>
          </a:p>
          <a:p>
            <a:r>
              <a:rPr lang="en-US" sz="1400"/>
              <a:t>The exercise uses one start point and three target points, represented by the ball positions.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r>
              <a:rPr lang="en-US" sz="1400"/>
              <a:t>The mechanical hand support is important because it defines how the user physically interacts with the robot.</a:t>
            </a:r>
          </a:p>
          <a:p>
            <a:r>
              <a:rPr lang="en-US" sz="1400"/>
              <a:t>It was designed in Fusion 360 and manufactured with 3D printing.</a:t>
            </a:r>
          </a:p>
          <a:p>
            <a:r>
              <a:rPr lang="en-US" sz="1400"/>
              <a:t>The goal is to provide stable, repeatable and comfortable contact while the robot guides the arm.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r>
              <a:rPr lang="en-US" sz="1400"/>
              <a:t>The workflow starts with a manual demonstration of the movement.</a:t>
            </a:r>
          </a:p>
          <a:p>
            <a:r>
              <a:rPr lang="en-US" sz="1400"/>
              <a:t>DMP learning stores the desired joint trajectory, while CMP learning stores the torque assistance profile.</a:t>
            </a:r>
          </a:p>
          <a:p>
            <a:r>
              <a:rPr lang="en-US" sz="1400"/>
              <a:t>During execution, the CMP assistance is scaled using the ability parameter S from 0 to 100.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r>
              <a:rPr lang="en-US" sz="1400"/>
              <a:t>The development was gradual.</a:t>
            </a:r>
          </a:p>
          <a:p>
            <a:r>
              <a:rPr lang="en-US" sz="1400"/>
              <a:t>We first used a simpler additional-weight task to observe how load affects motion and torque.</a:t>
            </a:r>
          </a:p>
          <a:p>
            <a:r>
              <a:rPr lang="en-US" sz="1400"/>
              <a:t>Then we moved to direct hand interaction, and finally to the more meaningful three-target ball exercise.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r>
              <a:rPr lang="en-US" sz="1400"/>
              <a:t>The recorded joint trajectories are smooth and suitable for DMP reproduction.</a:t>
            </a:r>
          </a:p>
          <a:p>
            <a:r>
              <a:rPr lang="en-US" sz="1400"/>
              <a:t>CMP profiles provide learned torque assistance that can be scaled during execution.</a:t>
            </a:r>
          </a:p>
          <a:p>
            <a:r>
              <a:rPr lang="en-US" sz="1400"/>
              <a:t>Forward and return movements are treated separately because their assistance profiles are not identical.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r>
              <a:rPr lang="en-US" sz="1400"/>
              <a:t>The final system combines DMP movement reproduction, CMP torque assistance, an adjustable assistance parameter and a 3D printed hand support.</a:t>
            </a:r>
          </a:p>
          <a:p>
            <a:r>
              <a:rPr lang="en-US" sz="1400"/>
              <a:t>Together these elements form a complete laboratory demonstration for robot-assisted upper-limb rehabilitation.</a:t>
            </a:r>
          </a:p>
          <a:p>
            <a:r>
              <a:rPr lang="en-US" sz="1400"/>
              <a:t>Future work should include more repetitions, different assistance settings, user evaluation and further ergonomic improvements.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sk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26288"/>
            <a:ext cx="4892040" cy="3056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234440"/>
            <a:ext cx="5669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Rehabilitation Robot
with Adaptive CMP Assistance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632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Aptos"/>
              </a:rPr>
              <a:t>Domen Brcar, Jakob Čehovin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502152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60A5FA"/>
                </a:solidFill>
                <a:latin typeface="Aptos"/>
              </a:rPr>
              <a:t>Robot-Human Interaction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828032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DMP trajectories + CMP torque assistance + adjustable user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56248"/>
            <a:ext cx="112014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5562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Motivation and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7589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Upper-limb rehabilitation needs
repeatable, safe and adjustable assistance.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743200"/>
            <a:ext cx="3246120" cy="1097280"/>
          </a:xfrm>
          <a:prstGeom prst="roundRect">
            <a:avLst/>
          </a:prstGeom>
          <a:solidFill>
            <a:srgbClr val="1827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274320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89504"/>
            <a:ext cx="29260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Repeatable movement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73552"/>
            <a:ext cx="292607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The robot can reproduce the same guided exercise many times.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2743200"/>
            <a:ext cx="3246120" cy="1097280"/>
          </a:xfrm>
          <a:prstGeom prst="roundRect">
            <a:avLst/>
          </a:prstGeom>
          <a:solidFill>
            <a:srgbClr val="1236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2272" y="2743200"/>
            <a:ext cx="73152" cy="1097280"/>
          </a:xfrm>
          <a:prstGeom prst="rect">
            <a:avLst/>
          </a:prstGeom>
          <a:solidFill>
            <a:srgbClr val="138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889504"/>
            <a:ext cx="29260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Safe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73552"/>
            <a:ext cx="292607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Controlled, slow motions support physical human-robot contact.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2743200"/>
            <a:ext cx="3246120" cy="1097280"/>
          </a:xfrm>
          <a:prstGeom prst="roundRect">
            <a:avLst/>
          </a:prstGeom>
          <a:solidFill>
            <a:srgbClr val="1920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11312" y="2743200"/>
            <a:ext cx="73152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889504"/>
            <a:ext cx="29260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Adjustable assistance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73552"/>
            <a:ext cx="292607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The amount of help can be changed according to user 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9784080" cy="8229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2E8F0"/>
                </a:solidFill>
                <a:latin typeface="Aptos"/>
              </a:rPr>
              <a:t>Goal: develop a laboratory exercise using Franka Emika Panda.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2E8F0"/>
                </a:solidFill>
                <a:latin typeface="Aptos"/>
              </a:rPr>
              <a:t>Robot should assist the user, not fully replace active movement.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56248"/>
            <a:ext cx="112014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5562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Aptos"/>
              </a:rPr>
              <a:t>Laboratory setup for guided reaching movements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89320" y="960120"/>
            <a:ext cx="5440680" cy="5230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bot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006" y="1033272"/>
            <a:ext cx="3607308" cy="4809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5870448"/>
            <a:ext cx="5166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Robot-assisted ball reaching 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4617720" cy="749808"/>
          </a:xfrm>
          <a:prstGeom prst="roundRect">
            <a:avLst/>
          </a:prstGeom>
          <a:solidFill>
            <a:srgbClr val="1827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72184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Franka Emika Panda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56231"/>
            <a:ext cx="4297680" cy="9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7-DOF collaborative robot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31720"/>
            <a:ext cx="4617720" cy="749808"/>
          </a:xfrm>
          <a:prstGeom prst="roundRect">
            <a:avLst/>
          </a:prstGeom>
          <a:solidFill>
            <a:srgbClr val="1236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331720"/>
            <a:ext cx="73152" cy="749808"/>
          </a:xfrm>
          <a:prstGeom prst="rect">
            <a:avLst/>
          </a:prstGeom>
          <a:solidFill>
            <a:srgbClr val="138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478024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3D printed hand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862072"/>
            <a:ext cx="4297680" cy="9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Mechanical interface between hand and robot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37560"/>
            <a:ext cx="4617720" cy="896112"/>
          </a:xfrm>
          <a:prstGeom prst="roundRect">
            <a:avLst/>
          </a:prstGeom>
          <a:solidFill>
            <a:srgbClr val="1920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337560"/>
            <a:ext cx="73152" cy="89611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483864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Ball reaching exercise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867911"/>
            <a:ext cx="4297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The user moves the ball from the start point to three target points.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36168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Exercise layout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458010" y="4798314"/>
            <a:ext cx="499263" cy="59436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58010" y="5392674"/>
            <a:ext cx="855879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58010" y="5392674"/>
            <a:ext cx="499263" cy="594359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244041" y="5285689"/>
            <a:ext cx="213969" cy="213969"/>
          </a:xfrm>
          <a:prstGeom prst="ellipse">
            <a:avLst/>
          </a:prstGeom>
          <a:solidFill>
            <a:srgbClr val="138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5169" y="5523433"/>
            <a:ext cx="45171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38D75"/>
                </a:solidFill>
                <a:latin typeface="Aptos"/>
              </a:rPr>
              <a:t>Start</a:t>
            </a:r>
          </a:p>
        </p:txBody>
      </p:sp>
      <p:sp>
        <p:nvSpPr>
          <p:cNvPr id="25" name="Oval 24"/>
          <p:cNvSpPr/>
          <p:nvPr/>
        </p:nvSpPr>
        <p:spPr>
          <a:xfrm>
            <a:off x="1957273" y="4691329"/>
            <a:ext cx="213969" cy="213969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38401" y="4929073"/>
            <a:ext cx="45171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Aptos"/>
              </a:rPr>
              <a:t>T1</a:t>
            </a:r>
          </a:p>
        </p:txBody>
      </p:sp>
      <p:sp>
        <p:nvSpPr>
          <p:cNvPr id="27" name="Oval 26"/>
          <p:cNvSpPr/>
          <p:nvPr/>
        </p:nvSpPr>
        <p:spPr>
          <a:xfrm>
            <a:off x="2313889" y="5285689"/>
            <a:ext cx="213969" cy="213969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5017" y="5523433"/>
            <a:ext cx="45171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Aptos"/>
              </a:rPr>
              <a:t>T2</a:t>
            </a:r>
          </a:p>
        </p:txBody>
      </p:sp>
      <p:sp>
        <p:nvSpPr>
          <p:cNvPr id="29" name="Oval 28"/>
          <p:cNvSpPr/>
          <p:nvPr/>
        </p:nvSpPr>
        <p:spPr>
          <a:xfrm>
            <a:off x="1957273" y="5880049"/>
            <a:ext cx="213969" cy="213969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38401" y="6117793"/>
            <a:ext cx="45171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Aptos"/>
              </a:rPr>
              <a:t>T3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56248"/>
            <a:ext cx="112014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5562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Mechanical Hand Support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97880" y="960120"/>
            <a:ext cx="5394960" cy="5257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nd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1976271"/>
            <a:ext cx="5248656" cy="2951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589788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Hand support during guided motion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234440"/>
            <a:ext cx="4617720" cy="868680"/>
          </a:xfrm>
          <a:prstGeom prst="roundRect">
            <a:avLst/>
          </a:prstGeom>
          <a:solidFill>
            <a:srgbClr val="1827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23444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80744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Designed in Fusion 360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4297680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Modeled as a controlled hand-robot interface.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59152"/>
            <a:ext cx="4617720" cy="868680"/>
          </a:xfrm>
          <a:prstGeom prst="roundRect">
            <a:avLst/>
          </a:prstGeom>
          <a:solidFill>
            <a:srgbClr val="1236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359152"/>
            <a:ext cx="73152" cy="868680"/>
          </a:xfrm>
          <a:prstGeom prst="rect">
            <a:avLst/>
          </a:prstGeom>
          <a:solidFill>
            <a:srgbClr val="138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05456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3D printed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4297680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Fast fabrication for a task-specific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483864"/>
            <a:ext cx="4617720" cy="868680"/>
          </a:xfrm>
          <a:prstGeom prst="roundRect">
            <a:avLst/>
          </a:prstGeom>
          <a:solidFill>
            <a:srgbClr val="1920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483864"/>
            <a:ext cx="73152" cy="8686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30168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Adapted to the hand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14215"/>
            <a:ext cx="4297680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Supports stable, comfortable contact.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608576"/>
            <a:ext cx="4617720" cy="868680"/>
          </a:xfrm>
          <a:prstGeom prst="roundRect">
            <a:avLst/>
          </a:prstGeom>
          <a:solidFill>
            <a:srgbClr val="1827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4608576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Guided arm movement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38928"/>
            <a:ext cx="4297680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Enables controlled motion above the surface.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56248"/>
            <a:ext cx="112014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0" y="65562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Aptos"/>
              </a:rPr>
              <a:t>From demonstration to adaptive assistance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1600200" cy="822960"/>
          </a:xfrm>
          <a:prstGeom prst="roundRect">
            <a:avLst/>
          </a:prstGeom>
          <a:solidFill>
            <a:srgbClr val="18274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Manual
demonstration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30551" y="2286000"/>
            <a:ext cx="237745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14015" y="1874519"/>
            <a:ext cx="1600200" cy="822960"/>
          </a:xfrm>
          <a:prstGeom prst="roundRect">
            <a:avLst/>
          </a:prstGeom>
          <a:solidFill>
            <a:srgbClr val="18274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DMP
learning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41648" y="2286000"/>
            <a:ext cx="237744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25112" y="1874519"/>
            <a:ext cx="1600200" cy="822960"/>
          </a:xfrm>
          <a:prstGeom prst="roundRect">
            <a:avLst/>
          </a:prstGeom>
          <a:solidFill>
            <a:srgbClr val="18274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DMP
reproduction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52744" y="2286000"/>
            <a:ext cx="237744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36207" y="1874519"/>
            <a:ext cx="1600200" cy="822960"/>
          </a:xfrm>
          <a:prstGeom prst="roundRect">
            <a:avLst/>
          </a:prstGeom>
          <a:solidFill>
            <a:srgbClr val="123632"/>
          </a:solidFill>
          <a:ln>
            <a:solidFill>
              <a:srgbClr val="138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CMP
learning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63840" y="2286000"/>
            <a:ext cx="237743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47304" y="1874519"/>
            <a:ext cx="1600200" cy="822960"/>
          </a:xfrm>
          <a:prstGeom prst="roundRect">
            <a:avLst/>
          </a:prstGeom>
          <a:solidFill>
            <a:srgbClr val="123632"/>
          </a:solidFill>
          <a:ln>
            <a:solidFill>
              <a:srgbClr val="138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Assistance
scaling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74936" y="2286000"/>
            <a:ext cx="237744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58400" y="1874519"/>
            <a:ext cx="1600200" cy="822960"/>
          </a:xfrm>
          <a:prstGeom prst="roundRect">
            <a:avLst/>
          </a:prstGeom>
          <a:solidFill>
            <a:srgbClr val="123632"/>
          </a:solidFill>
          <a:ln>
            <a:solidFill>
              <a:srgbClr val="138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Robot-assisted
exercise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03320"/>
            <a:ext cx="3154680" cy="1143000"/>
          </a:xfrm>
          <a:prstGeom prst="roundRect">
            <a:avLst/>
          </a:prstGeom>
          <a:solidFill>
            <a:srgbClr val="1827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849624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DMP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233672"/>
            <a:ext cx="283464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Aptos"/>
              </a:rPr>
              <a:t>Stores the demonstrated joint trajectory.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703320"/>
            <a:ext cx="3154680" cy="1143000"/>
          </a:xfrm>
          <a:prstGeom prst="roundRect">
            <a:avLst/>
          </a:prstGeom>
          <a:solidFill>
            <a:srgbClr val="1236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3703320"/>
            <a:ext cx="73152" cy="1143000"/>
          </a:xfrm>
          <a:prstGeom prst="rect">
            <a:avLst/>
          </a:prstGeom>
          <a:solidFill>
            <a:srgbClr val="138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3849624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CMP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233672"/>
            <a:ext cx="283464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Aptos"/>
              </a:rPr>
              <a:t>Stores the learned torque assistance profile.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703320"/>
            <a:ext cx="2834640" cy="1143000"/>
          </a:xfrm>
          <a:prstGeom prst="roundRect">
            <a:avLst/>
          </a:prstGeom>
          <a:solidFill>
            <a:srgbClr val="1920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703320"/>
            <a:ext cx="73152" cy="11430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8" y="3849624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Ability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4233672"/>
            <a:ext cx="251460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Aptos"/>
              </a:rPr>
              <a:t>0 = more assistance
100 = less assistance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4406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>
                <a:solidFill>
                  <a:srgbClr val="F8FAFC"/>
                </a:solidFill>
                <a:latin typeface="Aptos"/>
              </a:rPr>
              <a:t>Assistance scaling: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340096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α = (100 − S) / 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56248"/>
            <a:ext cx="112014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0" y="65562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Development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Aptos"/>
              </a:rPr>
              <a:t>A gradual path toward the final rehabilitation exercise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88036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16276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00784"/>
            <a:ext cx="4389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627632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Additional weight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208483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94A3B8"/>
                </a:solidFill>
                <a:latin typeface="Aptos"/>
              </a:rPr>
              <a:t>load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2651760"/>
            <a:ext cx="1234440" cy="1188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1872" y="2450592"/>
            <a:ext cx="109728" cy="51206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35024" y="2450592"/>
            <a:ext cx="109728" cy="51206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08175" y="2450592"/>
            <a:ext cx="109728" cy="51206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0048" y="2450592"/>
            <a:ext cx="109728" cy="51206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43200" y="2450592"/>
            <a:ext cx="109728" cy="51206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16352" y="2450592"/>
            <a:ext cx="109728" cy="51206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913632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Aptos"/>
              </a:rPr>
              <a:t>Observe load influence on duration, speed and torque.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21608" y="3337560"/>
            <a:ext cx="45720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43400" y="1417320"/>
            <a:ext cx="288036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07992" y="1627632"/>
            <a:ext cx="438912" cy="438912"/>
          </a:xfrm>
          <a:prstGeom prst="ellipse">
            <a:avLst/>
          </a:prstGeom>
          <a:solidFill>
            <a:srgbClr val="138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1700784"/>
            <a:ext cx="4389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1627632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Direct hand interaction</a:t>
            </a:r>
          </a:p>
        </p:txBody>
      </p:sp>
      <p:pic>
        <p:nvPicPr>
          <p:cNvPr id="22" name="Picture 21" descr="hand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03693"/>
            <a:ext cx="2423160" cy="13624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36008" y="3913632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Aptos"/>
              </a:rPr>
              <a:t>Introduce physical user-robot cooperation.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33488" y="3337560"/>
            <a:ext cx="45720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55279" y="1417320"/>
            <a:ext cx="288036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19871" y="1627632"/>
            <a:ext cx="438912" cy="438912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9871" y="1700784"/>
            <a:ext cx="4389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1" y="1627632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Three target exercise</a:t>
            </a:r>
          </a:p>
        </p:txBody>
      </p:sp>
      <p:pic>
        <p:nvPicPr>
          <p:cNvPr id="29" name="Picture 28" descr="task_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329" y="2176272"/>
            <a:ext cx="2268261" cy="1417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47888" y="3913632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Aptos"/>
              </a:rPr>
              <a:t>Final ball-reaching rehabilitation task.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56248"/>
            <a:ext cx="112014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5562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Aptos"/>
              </a:rPr>
              <a:t>Recorded trajectories and learned CMP assistance profiles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78992"/>
            <a:ext cx="5303520" cy="3063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oint_trajectorie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25" y="1152144"/>
            <a:ext cx="4301389" cy="2642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82219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Joint trajectories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78992"/>
            <a:ext cx="5303520" cy="1874519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mp_norms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481" y="1152144"/>
            <a:ext cx="3379836" cy="14538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2633471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CMP torque profile norms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218688"/>
            <a:ext cx="5303520" cy="1874519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mp_directions_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489" y="3291840"/>
            <a:ext cx="4235820" cy="1453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477316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Forward / return CMP 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3154680" cy="658368"/>
          </a:xfrm>
          <a:prstGeom prst="roundRect">
            <a:avLst/>
          </a:prstGeom>
          <a:solidFill>
            <a:srgbClr val="1827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486400"/>
            <a:ext cx="73152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632704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Smooth recorded trajectories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5486400"/>
            <a:ext cx="3154680" cy="658368"/>
          </a:xfrm>
          <a:prstGeom prst="roundRect">
            <a:avLst/>
          </a:prstGeom>
          <a:solidFill>
            <a:srgbClr val="1236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6280" y="5486400"/>
            <a:ext cx="73152" cy="658368"/>
          </a:xfrm>
          <a:prstGeom prst="rect">
            <a:avLst/>
          </a:prstGeom>
          <a:solidFill>
            <a:srgbClr val="138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7448" y="5632704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Separate CMP profiles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5486400"/>
            <a:ext cx="2834640" cy="658368"/>
          </a:xfrm>
          <a:prstGeom prst="roundRect">
            <a:avLst/>
          </a:prstGeom>
          <a:solidFill>
            <a:srgbClr val="1920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5486400"/>
            <a:ext cx="73152" cy="65836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5632704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Adjustable assistance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56248"/>
            <a:ext cx="112014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0" y="65562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Conclusion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"/>
              </a:rPr>
              <a:t>Complete laboratory setup for
robot-assisted upper-limb rehabilitation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2697480"/>
            <a:ext cx="2468880" cy="868680"/>
          </a:xfrm>
          <a:prstGeom prst="roundRect">
            <a:avLst/>
          </a:prstGeom>
          <a:solidFill>
            <a:srgbClr val="1827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269748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843784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DMP trajectories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227832"/>
            <a:ext cx="2148840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repeatable motion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2697480"/>
            <a:ext cx="2468880" cy="868680"/>
          </a:xfrm>
          <a:prstGeom prst="roundRect">
            <a:avLst/>
          </a:prstGeom>
          <a:solidFill>
            <a:srgbClr val="1236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47872" y="2697480"/>
            <a:ext cx="73152" cy="868680"/>
          </a:xfrm>
          <a:prstGeom prst="rect">
            <a:avLst/>
          </a:prstGeom>
          <a:solidFill>
            <a:srgbClr val="138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2843784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CMP assistance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227832"/>
            <a:ext cx="2148840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torque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822191"/>
            <a:ext cx="2468880" cy="868680"/>
          </a:xfrm>
          <a:prstGeom prst="roundRect">
            <a:avLst/>
          </a:prstGeom>
          <a:solidFill>
            <a:srgbClr val="1920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3822191"/>
            <a:ext cx="73152" cy="8686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968496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Ability parameter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352544"/>
            <a:ext cx="2148840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0 to 100 scaling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7872" y="3822191"/>
            <a:ext cx="2468880" cy="868680"/>
          </a:xfrm>
          <a:prstGeom prst="roundRect">
            <a:avLst/>
          </a:prstGeom>
          <a:solidFill>
            <a:srgbClr val="1827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47872" y="3822191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968496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Hand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352544"/>
            <a:ext cx="2148840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stable contact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2344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Future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920240"/>
            <a:ext cx="4206240" cy="20116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2E8F0"/>
                </a:solidFill>
                <a:latin typeface="Aptos"/>
              </a:rPr>
              <a:t>More repetitions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2E8F0"/>
                </a:solidFill>
                <a:latin typeface="Aptos"/>
              </a:rPr>
              <a:t>Different assistance levels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2E8F0"/>
                </a:solidFill>
                <a:latin typeface="Aptos"/>
              </a:rPr>
              <a:t>User evaluation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2E8F0"/>
                </a:solidFill>
                <a:latin typeface="Aptos"/>
              </a:rPr>
              <a:t>Improved ergonomic support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4617720"/>
            <a:ext cx="1143000" cy="502920"/>
          </a:xfrm>
          <a:prstGeom prst="roundRect">
            <a:avLst/>
          </a:prstGeom>
          <a:solidFill>
            <a:srgbClr val="18274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Demo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4617720"/>
            <a:ext cx="1143000" cy="502920"/>
          </a:xfrm>
          <a:prstGeom prst="roundRect">
            <a:avLst/>
          </a:prstGeom>
          <a:solidFill>
            <a:srgbClr val="18274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DMP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4617720"/>
            <a:ext cx="1143000" cy="502920"/>
          </a:xfrm>
          <a:prstGeom prst="roundRect">
            <a:avLst/>
          </a:prstGeom>
          <a:solidFill>
            <a:srgbClr val="123632"/>
          </a:solidFill>
          <a:ln>
            <a:solidFill>
              <a:srgbClr val="138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CMP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11312" y="4864608"/>
            <a:ext cx="109728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37192" y="4864608"/>
            <a:ext cx="109727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02920" y="6556248"/>
            <a:ext cx="112014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0" y="655624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